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0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02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20116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9144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AutoInsight AI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F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d'Analyse de Données Automatique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566160"/>
            <a:ext cx="27432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ELAMINE Mohammed  ·  RHIATI HAZIME Lina  ·  BOUTROUFT Younes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Spécialisé DATA &amp; MLOps — Télécom Paris · Mars 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FD349C-D47A-FCF1-2178-69086594D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17" y="73153"/>
            <a:ext cx="2011680" cy="9555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AutoInsight AI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3291840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F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EDA manuelle : 60-80% du temps data scientist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Hallucinations LLM sur les chiffres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Données sensibles envoyées au cloud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Pas de critique ni score de confiance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73152" cy="32918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8288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Hybride : Pandas (calculs) + LLM (sens)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6 agents spécialisés via LangGraph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100% local via Ollama — zéro fuite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Critique adversariale + confiance quantifiée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Technique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926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1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1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1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Graphe d'états, streaming, contrôle du flux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Texte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(Mistral / Qwen3)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Raisonnement local, confidentialité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Qwen2.5-coder 14B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Spécialisé Plotly et Pandas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(Docker)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Tracing, métriques, debugging 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local entre analyses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progressive, 7 tabs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Ruff + mypy + pytest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CI/CD, 187 tests, type checking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du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" y="1005840"/>
            <a:ext cx="1097280" cy="128016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" y="1005840"/>
            <a:ext cx="54864" cy="12801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1417320"/>
            <a:ext cx="182880" cy="182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17320" y="1005840"/>
            <a:ext cx="1097280" cy="128016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417320" y="1005840"/>
            <a:ext cx="54864" cy="12801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11430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417320"/>
            <a:ext cx="182880" cy="18288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697480" y="1005840"/>
            <a:ext cx="1097280" cy="128016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2697480" y="1005840"/>
            <a:ext cx="54864" cy="1280160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114300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69748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1417320"/>
            <a:ext cx="182880" cy="18288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977640" y="1005840"/>
            <a:ext cx="1097280" cy="128016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3977640" y="1005840"/>
            <a:ext cx="54864" cy="12801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1143000"/>
            <a:ext cx="457200" cy="457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97764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417320"/>
            <a:ext cx="182880" cy="18288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5257800" y="1005840"/>
            <a:ext cx="1097280" cy="128016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5"/>
          <p:cNvSpPr/>
          <p:nvPr/>
        </p:nvSpPr>
        <p:spPr>
          <a:xfrm>
            <a:off x="5257800" y="100584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1143000"/>
            <a:ext cx="457200" cy="4572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25780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</a:t>
            </a:r>
            <a:endParaRPr lang="en-US" sz="10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417320"/>
            <a:ext cx="182880" cy="182880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6537960" y="1005840"/>
            <a:ext cx="1097280" cy="128016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18"/>
          <p:cNvSpPr/>
          <p:nvPr/>
        </p:nvSpPr>
        <p:spPr>
          <a:xfrm>
            <a:off x="6537960" y="1005840"/>
            <a:ext cx="54864" cy="12801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1143000"/>
            <a:ext cx="457200" cy="45720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53796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0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1417320"/>
            <a:ext cx="182880" cy="182880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7818120" y="1005840"/>
            <a:ext cx="1097280" cy="128016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1"/>
          <p:cNvSpPr/>
          <p:nvPr/>
        </p:nvSpPr>
        <p:spPr>
          <a:xfrm>
            <a:off x="7818120" y="1005840"/>
            <a:ext cx="54864" cy="12801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0" y="1143000"/>
            <a:ext cx="457200" cy="45720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7818120" y="16916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00" dirty="0"/>
          </a:p>
        </p:txBody>
      </p:sp>
      <p:sp>
        <p:nvSpPr>
          <p:cNvPr id="38" name="Shape 23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24"/>
          <p:cNvSpPr/>
          <p:nvPr/>
        </p:nvSpPr>
        <p:spPr>
          <a:xfrm>
            <a:off x="457200" y="2651760"/>
            <a:ext cx="54864" cy="2103120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25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PipelineState — État partagé typé (TypedDict)</a:t>
            </a:r>
            <a:endParaRPr lang="en-US" sz="1400" dirty="0"/>
          </a:p>
        </p:txBody>
      </p:sp>
      <p:sp>
        <p:nvSpPr>
          <p:cNvPr id="41" name="Text 26"/>
          <p:cNvSpPr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Chaque nœud lit ses inputs, délègue à sa classe agent, écrit ses outputs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8888"/>
                </a:solidFill>
              </a:rPr>
              <a:t>profile_data · insights · critiques · confidence_scores · visualization_result · report_markdown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</a:rPr>
              <a:t>Streaming : chaque nœud affiche ses résultats pendant que les suivants travaillent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88888"/>
                </a:solidFill>
              </a:rPr>
              <a:t>Télémétrie : CPU, RAM, latence capturés par nœud et envoyés à LangFuse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Analytiques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" cy="3474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 (Hybride)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164592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Engine Pandas : calculs déterministes</a:t>
            </a:r>
            <a:endParaRPr lang="en-US" sz="1300" dirty="0"/>
          </a:p>
          <a:p>
            <a:pPr marL="685800" lvl="1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</a:rPr>
              <a:t>Shape, types, stats, outliers, missing values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Agent LLM : narration markdown du profil</a:t>
            </a:r>
            <a:endParaRPr lang="en-US" sz="1300" dirty="0"/>
          </a:p>
          <a:p>
            <a:pPr marL="685800" lvl="1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</a:rPr>
              <a:t>Les chiffres viennent de Pandas, pas du LLM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 err="1">
                <a:solidFill>
                  <a:srgbClr val="16A34A"/>
                </a:solidFill>
              </a:rPr>
              <a:t>Zéro</a:t>
            </a:r>
            <a:r>
              <a:rPr lang="en-US" sz="1300" b="1" dirty="0">
                <a:solidFill>
                  <a:srgbClr val="16A34A"/>
                </a:solidFill>
              </a:rPr>
              <a:t xml:space="preserve"> hallucination sur les </a:t>
            </a:r>
            <a:r>
              <a:rPr lang="en-US" sz="1300" b="1" dirty="0" err="1">
                <a:solidFill>
                  <a:srgbClr val="16A34A"/>
                </a:solidFill>
              </a:rPr>
              <a:t>statistiques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64008" cy="3474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(Insights)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029200" y="164592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3-6 insights structurés (JSON)</a:t>
            </a:r>
            <a:endParaRPr lang="en-US" sz="1300" dirty="0"/>
          </a:p>
          <a:p>
            <a:pPr marL="685800" lvl="1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</a:rPr>
              <a:t>Titre, observation, hypothèse, recommandation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Catégorisation automatique</a:t>
            </a:r>
            <a:endParaRPr lang="en-US" sz="1300" dirty="0"/>
          </a:p>
          <a:p>
            <a:pPr marL="685800" lvl="1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</a:rPr>
              <a:t>Trend, anomalie, corrélation, distribution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Priorité haute / moyenne / basse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Duo Critique &amp; Confiance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" cy="3474720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F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Agent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164592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Revue adversariale de chaque insight</a:t>
            </a:r>
            <a:endParaRPr lang="en-US" sz="1300" dirty="0"/>
          </a:p>
          <a:p>
            <a:pPr marL="685800" lvl="1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</a:rPr>
              <a:t>Forces, faiblesses, hypothèses alternatives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Verdict par insight :</a:t>
            </a:r>
            <a:endParaRPr lang="en-US" sz="1300" dirty="0"/>
          </a:p>
          <a:p>
            <a:pPr marL="685800" lvl="1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</a:rPr>
              <a:t>Supported · Partially supported · Weak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BF1238"/>
                </a:solidFill>
              </a:rPr>
              <a:t>Cross-check avec le profil (anti-hallucination)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64008" cy="34747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Estimator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029200" y="164592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</a:rPr>
              <a:t>Score 0-100% par insight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Approche hybride :</a:t>
            </a:r>
            <a:endParaRPr lang="en-US" sz="1300" dirty="0"/>
          </a:p>
          <a:p>
            <a:pPr marL="685800" lvl="1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</a:rPr>
              <a:t>Règles : qualité données + spécificité (50pts)</a:t>
            </a:r>
            <a:endParaRPr lang="en-US" sz="1300" dirty="0"/>
          </a:p>
          <a:p>
            <a:pPr marL="685800" lvl="1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</a:rPr>
              <a:t>LLM : evidence statistique + critique (50pts)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High (≥80%) · Medium (50-79%) · Low (&lt;50%)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Visualisation, Synthèse &amp; Mémoire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4864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LLM Code (Qwen2.5-coder)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Plotly auto-généré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Sandbox sécurisé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54864" cy="3474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188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29000" y="22860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Rapport exécutif complet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Insights + critiques + confiance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Accessible non-technique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00584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26480" y="1005840"/>
            <a:ext cx="54864" cy="3474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1887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Memory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22860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ChromaDB + nomic-embed-text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333333"/>
                </a:solidFill>
              </a:rPr>
              <a:t>Profils</a:t>
            </a:r>
            <a:r>
              <a:rPr lang="en-US" sz="1200" dirty="0">
                <a:solidFill>
                  <a:srgbClr val="333333"/>
                </a:solidFill>
              </a:rPr>
              <a:t xml:space="preserve">, insights et rapport </a:t>
            </a:r>
            <a:r>
              <a:rPr lang="en-US" sz="1200" dirty="0" err="1">
                <a:solidFill>
                  <a:srgbClr val="333333"/>
                </a:solidFill>
              </a:rPr>
              <a:t>stockés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Isolation par collection et dataset_id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Évaluation : LLM-as-Judge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d'évaluation post-run — indépendant du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51760" cy="320040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4864" cy="3200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Grounding        35%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Completeness  25%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Clarity             25%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Specificity       15%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320040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54864" cy="3200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Factual Corr.   35%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Relevance        20%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Actionability    20%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Cal.     15%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Diversity          10%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320040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54864" cy="3200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192024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Faithfulness     30%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Coherence        25%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          20%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Completeness  15%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Actionability    10%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(≥85%)  ·  Good (≥70%)  ·  Fair (≥50%)  ·  Poor (&lt;50%)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Observabilité — LangFuse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" cy="3474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33333"/>
                </a:solidFill>
              </a:rPr>
              <a:t>Self-hosted via Docker Compose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</a:rPr>
              <a:t>PostgreSQL + LangFuse Server — aucune dépendance cloud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33333"/>
                </a:solidFill>
              </a:rPr>
              <a:t>Tracing multi-niveaux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</a:rPr>
              <a:t>1 trace par run · 1 span par agent · chaque appel LLM tracé (prompt, tokens, durée)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33333"/>
                </a:solidFill>
              </a:rPr>
              <a:t>Télémétrie système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</a:rPr>
              <a:t>CPU, RAM, latence par agent — diagnostics temps réel dans l'UI Streamlit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33333"/>
                </a:solidFill>
              </a:rPr>
              <a:t>Dégradation gracieuse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</a:rPr>
              <a:t>L'app fonctionne si LangFuse est off (Null-Object pattern)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Rigueur Logicielle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" cy="3474720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F1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 (make ci)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Ruff : lint + formatage strict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mypy : type checking (59 fichiers)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pytest : 187 tests en 4 secondes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pre-commit : 6 hooks automatiques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64008" cy="347472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Git Feature Branch workflow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Prompts découplés en YAML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Config centralisée (Settings frozen)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du Projet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931920"/>
          </a:xfrm>
          <a:prstGeom prst="rect">
            <a:avLst/>
          </a:prstGeom>
          <a:solidFill>
            <a:srgbClr val="F7F7F7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autoinsight-ai/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agents/              # 6 agents LLM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profiler.py          analyst.py        critic.py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uncertainty.py       visualizer.py     reporter.py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rag.py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orchestration/       # LangGraph pipeline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graph.py             state.py (PipelineState)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tools/               # DataLoader, DataProfiler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evaluation/          # LLM-as-Judge, rubrics, validators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utils/               # LLM factory, ChromaDB memory, LangFuse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              # Settings + prompts.yaml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app/main.py          # Streamlit (7 tabs, ~1000 lignes)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               # 187 tests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docker-compose.langfuse.yml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Makefile             # 12 commandes (ci, test, run, ...)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pyproject.toml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&amp; Confidentialité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" cy="3474720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33333"/>
                </a:solidFill>
              </a:rPr>
              <a:t>Sandbox d'exécution de code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</a:rPr>
              <a:t>Namespace restreint : __builtins__={}, accès uniquement au DataFrame, pandas, plotly, numpy. Aucun accès filesystem ou réseau.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33333"/>
                </a:solidFill>
              </a:rPr>
              <a:t>Local-first (Ollama)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</a:rPr>
              <a:t>Toutes les données restent sur la machine. Gemini disponible en fallback optionnel.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333333"/>
                </a:solidFill>
              </a:rPr>
              <a:t>Validation robuste des outputs LLM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88888"/>
                </a:solidFill>
              </a:rPr>
              <a:t>Extraction JSON sûre, validation de champs, fallback markdown — jamais de crash.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Architecture Multi-Agent modulaire (6 agents spécialisés)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Confiance quantifiée : Critic + Uncertainty + LLM-as-Judge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Sécurité : exécution locale + sandbox de code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Observabilité : LangFuse self-hosted avec dégradation gracieuse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187 tests · CI/CD · mypy strict · prompts YAML configurables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0" y="3566160"/>
            <a:ext cx="3657600" cy="777240"/>
          </a:xfrm>
          <a:prstGeom prst="rect">
            <a:avLst/>
          </a:prstGeom>
          <a:solidFill>
            <a:srgbClr val="BF123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7216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49040" y="3657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à la Démo !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AutoInsight AI  ·  Master MS DATA &amp; MLOps  ·  Télécom Paris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F12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Points Forts &amp; Perspectives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" cy="34747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Architecture multi-agent modulaire (6 agents LLM via LangGraph)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Profilage hybride : Pandas (chiffres exacts) + LLM (interpretation)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Critique adversariale + confiance quantifiee (Critic + Uncertainty)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100% local (Ollama) : confidentialite des donnees garantie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Observabilite LangFuse self-hosted avec degradation gracieuse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Rigueur : 187 tests, mypy strict, Ruff, pre-commit, CI complete</a:t>
            </a:r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64008" cy="347472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&amp; Ameliorations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</a:rPr>
              <a:t>Text-to-Code : requetes en langage naturel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L’utilisateur pose une question en francais sur ses donnees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Le LLM Code genere du code Pandas automatiquement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Execution securisee dans le sandbox existant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Resultats affiches directement dans l’UI Streamlit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100" i="1" dirty="0">
                <a:solidFill>
                  <a:srgbClr val="666666"/>
                </a:solidFill>
              </a:rPr>
              <a:t>Ex: “Quel est le CA moyen par region ?”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→ df.groupby(’region’)[’ca’].mean()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916</Words>
  <Application>Microsoft Office PowerPoint</Application>
  <PresentationFormat>On-screen Show (16:9)</PresentationFormat>
  <Paragraphs>181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AutoInsight AI — Télécom Paris</dc:title>
  <dc:subject>PptxGenJS Presentation</dc:subject>
  <dc:creator>ELAMINE, RHIATI HAZIME, BOUTROUFT</dc:creator>
  <cp:lastModifiedBy>Lina RHIATI HAZIME</cp:lastModifiedBy>
  <cp:revision>2</cp:revision>
  <dcterms:created xsi:type="dcterms:W3CDTF">2026-03-31T12:27:53Z</dcterms:created>
  <dcterms:modified xsi:type="dcterms:W3CDTF">2026-03-31T12:48:39Z</dcterms:modified>
</cp:coreProperties>
</file>